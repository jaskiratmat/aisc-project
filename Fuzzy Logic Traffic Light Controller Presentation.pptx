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  <p:embeddedFont>
      <p:font typeface="JetBrains Mono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347120"/>
            <a:ext cx="1581150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343150" y="4347120"/>
            <a:ext cx="1352550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8100" y="4347120"/>
            <a:ext cx="2724150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205930"/>
            <a:ext cx="425871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Inter"/>
              </a:rPr>
              <a:t>ARTIFICIAL INTELLIGENCE &amp; FUZZY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44055"/>
            <a:ext cx="10326290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Inter"/>
              </a:rPr>
              <a:t>Adaptive Traffic Light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66020"/>
            <a:ext cx="6191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An intelligent Mamdani Fuzzy Inference Engine for dynamic 4-way intersection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51820"/>
            <a:ext cx="4191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Created by:</a:t>
            </a:r>
            <a:r>
              <a:rPr sz="1200" b="0" i="0" u="none">
                <a:solidFill>
                  <a:srgbClr val="38BDF8"/>
                </a:solidFill>
                <a:latin typeface="Inter"/>
              </a:rPr>
              <a:t> Jaskirat Singh and Rishi Bhardwaj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04270"/>
            <a:ext cx="1409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JetBrains Mono"/>
              </a:rPr>
              <a:t>Mamdani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6500" y="4404270"/>
            <a:ext cx="1181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JetBrains Mono"/>
              </a:rPr>
              <a:t>Triangular MFs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1450" y="4404270"/>
            <a:ext cx="2552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JetBrains Mono"/>
              </a:rPr>
              <a:t>Weighted Average Defuzzification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43225"/>
            <a:ext cx="190500" cy="19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943225"/>
            <a:ext cx="1905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33825"/>
            <a:ext cx="1428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10050"/>
            <a:ext cx="14287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86275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3933825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4210050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4486275"/>
            <a:ext cx="12382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Inter"/>
              </a:rPr>
              <a:t>Fixed Timers vs. Dynamic Traffic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924175"/>
            <a:ext cx="6900862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Inter"/>
              </a:rPr>
              <a:t>Conventional Fixed-Time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267075"/>
            <a:ext cx="5353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Traditional controllers allocate static green light durations regardless of actual vehicle queues.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2924175"/>
            <a:ext cx="5867400" cy="22860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A34A"/>
                </a:solidFill>
                <a:latin typeface="Inter"/>
              </a:rPr>
              <a:t>Fuzzy Adaptive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267075"/>
            <a:ext cx="5353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Evaluates real-time arrival rates and queue sizes to compute optimal signal duration dynamically.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914775"/>
            <a:ext cx="657225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Idle Red Lights: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Drivers wait at empty intersections.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191000"/>
            <a:ext cx="657225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Queue Bottlenecks: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High flow lanes build excessive congestion.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467225"/>
            <a:ext cx="657225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Inflexible Timing: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Fixed 15-second cycles fail under variable demand.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3914775"/>
            <a:ext cx="5867400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Real-time Adaptation: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Green cycles range dynamically from 10s to 30s.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4191000"/>
            <a:ext cx="5867400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Reduced Delay: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Minimizes average vehicle waiting times.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4467225"/>
            <a:ext cx="5867400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Inter"/>
              </a:rPr>
              <a:t>Human-like Reasoning: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Implements natural linguistic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4650"/>
            <a:ext cx="32385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76750" y="2914650"/>
            <a:ext cx="32385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43900" y="2914650"/>
            <a:ext cx="32385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3738562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3738562"/>
            <a:ext cx="1714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PIPELINE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Inter"/>
              </a:rPr>
              <a:t>3-Step Fuzzy Logic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190875"/>
            <a:ext cx="33575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00450"/>
            <a:ext cx="35254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Input Fuzzification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876675"/>
            <a:ext cx="2781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Converts crisp inputs (Queue Length &amp; Arrival Rate) into membership values [0.0, 1.0] using triangular functions.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2975" y="3190875"/>
            <a:ext cx="33575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2975" y="3600450"/>
            <a:ext cx="35254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Mamdani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2975" y="3876675"/>
            <a:ext cx="2781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Evaluates 9 IF-THEN rules using MIN operator for logical AND to determine firing weights.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0125" y="3190875"/>
            <a:ext cx="33575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0125" y="3600450"/>
            <a:ext cx="352544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Defuzzification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0125" y="3876675"/>
            <a:ext cx="27813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Computes final crisp green duration (10s–30s) using the Weighted Average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66825"/>
            <a:ext cx="5334000" cy="5133975"/>
          </a:xfrm>
          <a:prstGeom prst="roundRect">
            <a:avLst>
              <a:gd name="adj" fmla="val 22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266825"/>
            <a:ext cx="5334000" cy="5133975"/>
          </a:xfrm>
          <a:prstGeom prst="roundRect">
            <a:avLst>
              <a:gd name="adj" fmla="val 22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7725" y="2143125"/>
          <a:ext cx="4857749" cy="1438275"/>
        </p:xfrm>
        <a:graphic>
          <a:graphicData uri="http://schemas.openxmlformats.org/drawingml/2006/table">
            <a:tbl>
              <a:tblPr/>
              <a:tblGrid>
                <a:gridCol w="111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56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Set Label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Triangular Parameters (a, b, 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6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(0, 0, 7)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(3, 9, 15)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(10, 20, 20)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86525" y="2143125"/>
          <a:ext cx="4857749" cy="1438275"/>
        </p:xfrm>
        <a:graphic>
          <a:graphicData uri="http://schemas.openxmlformats.org/drawingml/2006/table">
            <a:tbl>
              <a:tblPr/>
              <a:tblGrid>
                <a:gridCol w="1119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56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Set Label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Triangular Parameters (a, b, 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6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(0, 0, 20)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(12, 25, 38)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57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JetBrains Mono"/>
                        </a:rPr>
                        <a:t>(30, 50, 50)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FUZZIFICATION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Inter"/>
              </a:rPr>
              <a:t>Input Membership Functions (Triangular MFs)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1504950"/>
            <a:ext cx="63757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Queue Length (Cars Waiting)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819275"/>
            <a:ext cx="6072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Range: 0 to 20 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1504950"/>
            <a:ext cx="5705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Arrival Rate (Cars / Minute)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1819275"/>
            <a:ext cx="5705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JetBrains Mono"/>
              </a:rPr>
              <a:t>Range: 5 to 50 cars/min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381125"/>
          <a:ext cx="10972800" cy="1885950"/>
        </p:xfrm>
        <a:graphic>
          <a:graphicData uri="http://schemas.openxmlformats.org/drawingml/2006/table">
            <a:tbl>
              <a:tblPr/>
              <a:tblGrid>
                <a:gridCol w="432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487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Arrival Rate \ Queue Length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SHORT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FFFFF"/>
                          </a:solidFill>
                          <a:latin typeface="Inter"/>
                        </a:rPr>
                        <a:t>LONG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LOW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10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15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20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D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MEDIUM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15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20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25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9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HIGH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20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D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1E293B"/>
                          </a:solidFill>
                          <a:latin typeface="Inter"/>
                        </a:rPr>
                        <a:t>25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F8FAFC"/>
                          </a:solidFill>
                          <a:latin typeface="Inter"/>
                        </a:rPr>
                        <a:t>30 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A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INFERENCE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Inter"/>
              </a:rPr>
              <a:t>9 Mamdani IF-THEN Rule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4484" y="3495675"/>
            <a:ext cx="5203031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Inter"/>
              </a:rPr>
              <a:t>Inference Logic: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 Rule Weight = min(μ</a:t>
            </a:r>
            <a:r>
              <a:rPr sz="875" b="0" i="0" u="none">
                <a:solidFill>
                  <a:srgbClr val="64748B"/>
                </a:solidFill>
                <a:latin typeface="Inter"/>
              </a:rPr>
              <a:t>ArrivalRate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, μ</a:t>
            </a:r>
            <a:r>
              <a:rPr sz="875" b="0" i="0" u="none">
                <a:solidFill>
                  <a:srgbClr val="64748B"/>
                </a:solidFill>
                <a:latin typeface="Inter"/>
              </a:rPr>
              <a:t>QueueLength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24075" y="2638127"/>
            <a:ext cx="7943850" cy="1400770"/>
          </a:xfrm>
          <a:prstGeom prst="roundRect">
            <a:avLst>
              <a:gd name="adj" fmla="val 815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343697"/>
            <a:ext cx="5372100" cy="6858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0300" y="4343697"/>
            <a:ext cx="5372100" cy="68580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343697"/>
            <a:ext cx="3810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0300" y="4343697"/>
            <a:ext cx="38100" cy="6858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722" y="2952452"/>
            <a:ext cx="3104405" cy="4006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DEFUZZIFICATION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Inter"/>
              </a:rPr>
              <a:t>Weighted Average Crisp Output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3505497"/>
            <a:ext cx="8763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JetBrains Mono"/>
              </a:rPr>
              <a:t>w</a:t>
            </a:r>
            <a:r>
              <a:rPr sz="937" b="0" i="0" u="none">
                <a:solidFill>
                  <a:srgbClr val="475569"/>
                </a:solidFill>
                <a:latin typeface="JetBrains Mono"/>
              </a:rPr>
              <a:t>i</a:t>
            </a:r>
            <a:r>
              <a:rPr sz="1125" b="0" i="0" u="none">
                <a:solidFill>
                  <a:srgbClr val="475569"/>
                </a:solidFill>
                <a:latin typeface="JetBrains Mono"/>
              </a:rPr>
              <a:t> = Rule firing strength (min operator) | S</a:t>
            </a:r>
            <a:r>
              <a:rPr sz="937" b="0" i="0" u="none">
                <a:solidFill>
                  <a:srgbClr val="475569"/>
                </a:solidFill>
                <a:latin typeface="JetBrains Mono"/>
              </a:rPr>
              <a:t>i</a:t>
            </a:r>
            <a:r>
              <a:rPr sz="1125" b="0" i="0" u="none">
                <a:solidFill>
                  <a:srgbClr val="475569"/>
                </a:solidFill>
                <a:latin typeface="JetBrains Mono"/>
              </a:rPr>
              <a:t> = Crisp singleton duration (10s–30s)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496097"/>
            <a:ext cx="6600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Inter"/>
              </a:rPr>
              <a:t>Clamped Output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715172"/>
            <a:ext cx="6286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3A8A"/>
                </a:solidFill>
                <a:latin typeface="Inter"/>
              </a:rPr>
              <a:t>Bounded strictly between </a:t>
            </a:r>
            <a:r>
              <a:rPr sz="1050" b="1" i="0" u="none">
                <a:solidFill>
                  <a:srgbClr val="1E3A8A"/>
                </a:solidFill>
                <a:latin typeface="Inter"/>
              </a:rPr>
              <a:t>10 seconds</a:t>
            </a:r>
            <a:r>
              <a:rPr sz="1050" b="0" i="0" u="none">
                <a:solidFill>
                  <a:srgbClr val="1E3A8A"/>
                </a:solidFill>
                <a:latin typeface="Inter"/>
              </a:rPr>
              <a:t> (min) and </a:t>
            </a:r>
            <a:r>
              <a:rPr sz="1050" b="1" i="0" u="none">
                <a:solidFill>
                  <a:srgbClr val="1E3A8A"/>
                </a:solidFill>
                <a:latin typeface="Inter"/>
              </a:rPr>
              <a:t>30 seconds</a:t>
            </a:r>
            <a:r>
              <a:rPr sz="1050" b="0" i="0" u="none">
                <a:solidFill>
                  <a:srgbClr val="1E3A8A"/>
                </a:solidFill>
                <a:latin typeface="Inter"/>
              </a:rPr>
              <a:t> (max).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96097"/>
            <a:ext cx="5791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Inter"/>
              </a:rPr>
              <a:t>Fall-Through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15172"/>
            <a:ext cx="5791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4532D"/>
                </a:solidFill>
                <a:latin typeface="Inter"/>
              </a:rPr>
              <a:t>Defaults to 15s standard duration if zero rules evaluate active.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924175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3648075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4210050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3019425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743325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4305300"/>
            <a:ext cx="1333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INTERACTIVE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Inter"/>
              </a:rPr>
              <a:t>Interactive Intersection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9425" y="2924175"/>
            <a:ext cx="5362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Inter"/>
              </a:rPr>
              <a:t>Real-time Flow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3133725"/>
            <a:ext cx="48482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Adjust North-South and East-West flow sliders (5 to 50 cars/min) dynamically.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9425" y="3648075"/>
            <a:ext cx="5362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Inter"/>
              </a:rPr>
              <a:t>Live Inference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9425" y="3857625"/>
            <a:ext cx="53625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Inspect active membership values (μ) and dominant rule execution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9425" y="4210050"/>
            <a:ext cx="5362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Inter"/>
              </a:rPr>
              <a:t>Instant Mode Switching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9425" y="4419600"/>
            <a:ext cx="48482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Toggle between Fixed 15s Timing and Fuzzy Adaptive mode for direct comparison.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99A039-FB65-1D8F-E896-E0523BEC7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09480"/>
            <a:ext cx="3886742" cy="3867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9875"/>
            <a:ext cx="3454449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09875"/>
            <a:ext cx="3454449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09875"/>
            <a:ext cx="3454449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RESULTS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Inter"/>
              </a:rPr>
              <a:t>System Performance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325" y="3162300"/>
            <a:ext cx="343699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2563EB"/>
                </a:solidFill>
                <a:latin typeface="Inter"/>
              </a:rPr>
              <a:t>-38%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400" y="3924300"/>
            <a:ext cx="36088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Average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325" y="4181475"/>
            <a:ext cx="34369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Significant reduction in vehicle waiting times compared to fixed signals.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7574" y="3162300"/>
            <a:ext cx="343699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6A34A"/>
                </a:solidFill>
                <a:latin typeface="Inter"/>
              </a:rPr>
              <a:t>+25%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649" y="3924300"/>
            <a:ext cx="36088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Intersection Throughput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574" y="4181475"/>
            <a:ext cx="34369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Higher volume of cleared vehicles during peak traffic rate spikes.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6824" y="3162300"/>
            <a:ext cx="343699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D97706"/>
                </a:solidFill>
                <a:latin typeface="Inter"/>
              </a:rPr>
              <a:t>0.0s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0899" y="3924300"/>
            <a:ext cx="36088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Zero Waste Green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824" y="4181475"/>
            <a:ext cx="34369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Eliminates green light allocations to empty, low-demand lanes.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527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Arial</vt:lpstr>
      <vt:lpstr>JetBrains Mono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Jaskirat Singh</cp:lastModifiedBy>
  <cp:revision>2</cp:revision>
  <dcterms:created xsi:type="dcterms:W3CDTF">2013-01-27T09:14:16Z</dcterms:created>
  <dcterms:modified xsi:type="dcterms:W3CDTF">2026-10-14T14:52:55Z</dcterms:modified>
  <cp:category/>
</cp:coreProperties>
</file>